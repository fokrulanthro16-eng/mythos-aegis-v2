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566928"/>
            <a:ext cx="2148840" cy="347472"/>
          </a:xfrm>
          <a:prstGeom prst="roundRect">
            <a:avLst/>
          </a:prstGeom>
          <a:solidFill>
            <a:srgbClr val="04231E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DCA0"/>
                </a:solidFill>
              </a:defRPr>
            </a:pPr>
            <a:r>
              <a:t>MENTOR REVIEW READY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1417320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800" b="1">
                <a:solidFill>
                  <a:srgbClr val="F5F8FF"/>
                </a:solidFill>
              </a:defRPr>
            </a:pPr>
            <a:r>
              <a:t>Mythos Aegis</a:t>
            </a:r>
          </a:p>
          <a:p>
            <a:pPr>
              <a:defRPr sz="2600">
                <a:solidFill>
                  <a:srgbClr val="00D6FF"/>
                </a:solidFill>
              </a:defRPr>
            </a:pPr>
            <a:r>
              <a:t>AI Security + RAG Demo Platform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063240"/>
            <a:ext cx="6172200" cy="205740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3227832"/>
            <a:ext cx="5715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Final submission scope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3657600"/>
            <a:ext cx="55778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FastAPI backend + Next.js admin dashboard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Supabase/Postgres with pgvector RAG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JWT, RBAC, SQL Airlock, Vision fallback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3063240"/>
            <a:ext cx="6537960" cy="205740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35240" y="3227832"/>
            <a:ext cx="6080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Release status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3657600"/>
            <a:ext cx="58978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Main branch pushed and clean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GitHub Actions green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Ruff, Mypy, Pytest 970+ passing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720840"/>
            <a:ext cx="1325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96AAC8"/>
                </a:solidFill>
              </a:defRPr>
            </a:pPr>
            <a:r>
              <a:t>Repository: https://github.com/fokrulanthro16-eng/mythos-aegis-v2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Architecture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Clear separation between API, admin console, database, retrieval, and providers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1645920"/>
            <a:ext cx="5806440" cy="8229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1810512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6FF"/>
                </a:solidFill>
              </a:defRPr>
            </a:pPr>
            <a:r>
              <a:t>Next.js Admin 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210312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6AAC8"/>
                </a:solidFill>
              </a:defRPr>
            </a:pPr>
            <a:r>
              <a:t>Dashboard, live feed, RAG UI, Vision Analyze UI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80360"/>
            <a:ext cx="5806440" cy="8229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3044952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6FF"/>
                </a:solidFill>
              </a:defRPr>
            </a:pPr>
            <a:r>
              <a:t>FastAPI Backend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333756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6AAC8"/>
                </a:solidFill>
              </a:defRPr>
            </a:pPr>
            <a:r>
              <a:t>/health, /status, auth, RBAC, SQL Airlock, RAG/vision endpoints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4114800"/>
            <a:ext cx="5806440" cy="8229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4279392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6FF"/>
                </a:solidFill>
              </a:defRPr>
            </a:pPr>
            <a:r>
              <a:t>Supabase + pgvector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" y="457200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6AAC8"/>
                </a:solidFill>
              </a:defRPr>
            </a:pPr>
            <a:r>
              <a:t>Postgres storage, vector embeddings, retrieval-ready knowledge base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49240"/>
            <a:ext cx="5806440" cy="8229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5513832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D6FF"/>
                </a:solidFill>
              </a:defRPr>
            </a:pPr>
            <a:r>
              <a:t>Providers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806440"/>
            <a:ext cx="5303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96AAC8"/>
                </a:solidFill>
              </a:defRPr>
            </a:pPr>
            <a:r>
              <a:t>Vision fallback mode by default; Gemini optional via API key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43800" y="1645920"/>
            <a:ext cx="6126480" cy="512064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0" y="1810512"/>
            <a:ext cx="5669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Request 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2331720"/>
            <a:ext cx="55778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700">
                <a:solidFill>
                  <a:srgbClr val="F5F8FF"/>
                </a:solidFill>
              </a:defRPr>
            </a:pPr>
            <a:r>
              <a:t>User actions start in the admin console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700">
                <a:solidFill>
                  <a:srgbClr val="F5F8FF"/>
                </a:solidFill>
              </a:defRPr>
            </a:pPr>
            <a:r>
              <a:t>JWT and RBAC validate access before sensitive operations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700">
                <a:solidFill>
                  <a:srgbClr val="F5F8FF"/>
                </a:solidFill>
              </a:defRPr>
            </a:pPr>
            <a:r>
              <a:t>SQL Airlock blocks unsafe database queries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700">
                <a:solidFill>
                  <a:srgbClr val="F5F8FF"/>
                </a:solidFill>
              </a:defRPr>
            </a:pPr>
            <a:r>
              <a:t>RAG pipeline retrieves relevant chunks and returns citations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700">
                <a:solidFill>
                  <a:srgbClr val="F5F8FF"/>
                </a:solidFill>
              </a:defRPr>
            </a:pPr>
            <a:r>
              <a:t>Vision factory routes to fallback mode unless Gemini is configured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Completed Capabilities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The release package focuses on verified, mentor-demo-ready functionality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1645920"/>
            <a:ext cx="4160520" cy="53035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1810512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Security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" y="233172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JWT authentication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RBAC permissions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SQL Airlock query blocking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Rate-limit and event feed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49240" y="1645920"/>
            <a:ext cx="4160520" cy="53035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77840" y="1810512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RAG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79" y="233172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PDF upload support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Supabase pgvector integration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Retrieval pipeline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RAG ask endpoint with citations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1645920"/>
            <a:ext cx="4160520" cy="53035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195560" y="1810512"/>
            <a:ext cx="3703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Demo + Ops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7000" y="2331720"/>
            <a:ext cx="35204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/health and /status endpoints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Admin dashboard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Vision fallback analyze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800">
                <a:solidFill>
                  <a:srgbClr val="F5F8FF"/>
                </a:solidFill>
              </a:defRPr>
            </a:pPr>
            <a:r>
              <a:t>CI and test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Admin Dashboard + Live Security Feed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Operational UI showing security events in real 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0080" y="1508760"/>
            <a:ext cx="13350240" cy="59893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(1618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723" y="1737360"/>
            <a:ext cx="8974952" cy="5532120"/>
          </a:xfrm>
          <a:prstGeom prst="rect">
            <a:avLst/>
          </a:prstGeom>
        </p:spPr>
      </p:pic>
      <p:sp>
        <p:nvSpPr>
          <p:cNvPr id="31" name="Rounded Rectangle 30"/>
          <p:cNvSpPr/>
          <p:nvPr/>
        </p:nvSpPr>
        <p:spPr>
          <a:xfrm>
            <a:off x="822960" y="7178040"/>
            <a:ext cx="2148840" cy="347472"/>
          </a:xfrm>
          <a:prstGeom prst="roundRect">
            <a:avLst/>
          </a:prstGeom>
          <a:solidFill>
            <a:srgbClr val="04231E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725119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DCA0"/>
                </a:solidFill>
              </a:defRPr>
            </a:pPr>
            <a:r>
              <a:t>DEMO CONNECTED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154680" y="7178040"/>
            <a:ext cx="2148840" cy="347472"/>
          </a:xfrm>
          <a:prstGeom prst="roundRect">
            <a:avLst/>
          </a:prstGeom>
          <a:solidFill>
            <a:srgbClr val="04231E"/>
          </a:solidFill>
          <a:ln>
            <a:solidFill>
              <a:srgbClr val="00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54680" y="725119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D6FF"/>
                </a:solidFill>
              </a:defRPr>
            </a:pPr>
            <a:r>
              <a:t>JWT • RBAC • SQL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0" y="7178040"/>
            <a:ext cx="2148840" cy="347472"/>
          </a:xfrm>
          <a:prstGeom prst="roundRect">
            <a:avLst/>
          </a:prstGeom>
          <a:solidFill>
            <a:srgbClr val="04231E"/>
          </a:solidFill>
          <a:ln>
            <a:solidFill>
              <a:srgbClr val="00DC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0" y="7251192"/>
            <a:ext cx="2148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00DCA0"/>
                </a:solidFill>
              </a:defRPr>
            </a:pPr>
            <a:r>
              <a:t>OPERATIONAL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RAG Pipeline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Upload, retrieve, ask, and cite source chunks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1508760"/>
            <a:ext cx="6400800" cy="53949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1673351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RAG answer with citations</a:t>
            </a:r>
          </a:p>
        </p:txBody>
      </p:sp>
      <p:pic>
        <p:nvPicPr>
          <p:cNvPr id="31" name="Picture 30" descr="rag-query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576705"/>
            <a:ext cx="5943600" cy="3441948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98079" y="1508760"/>
            <a:ext cx="6400800" cy="539496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6679" y="1673351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Supabase pgvector setup</a:t>
            </a:r>
          </a:p>
        </p:txBody>
      </p:sp>
      <p:pic>
        <p:nvPicPr>
          <p:cNvPr id="34" name="Picture 33" descr="supabase-pgvector-se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308667"/>
            <a:ext cx="5943600" cy="19780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68680" y="7086600"/>
            <a:ext cx="12801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500">
                <a:solidFill>
                  <a:srgbClr val="96AAC8"/>
                </a:solidFill>
              </a:defRPr>
            </a:pPr>
            <a:r>
              <a:t>Evidence confirms PDF/RAG workflow and pgvector-backed retrieval are documented for the demo.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Operational Endpoints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Core service checks documented and screenshot-backed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2960" y="1554480"/>
            <a:ext cx="6355080" cy="53035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1719072"/>
            <a:ext cx="5897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/health</a:t>
            </a:r>
          </a:p>
        </p:txBody>
      </p:sp>
      <p:pic>
        <p:nvPicPr>
          <p:cNvPr id="31" name="Picture 30" descr="health-end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30580"/>
            <a:ext cx="5806440" cy="3642759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7452360" y="1554480"/>
            <a:ext cx="6355080" cy="53035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680960" y="1719072"/>
            <a:ext cx="5897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/status</a:t>
            </a:r>
          </a:p>
        </p:txBody>
      </p:sp>
      <p:pic>
        <p:nvPicPr>
          <p:cNvPr id="34" name="Picture 33" descr="status-endp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79" y="3475012"/>
            <a:ext cx="5806440" cy="155389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Vision Analyze Fallback Mode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Demo-safe vision provider without external API dependency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31520" y="1417320"/>
            <a:ext cx="8503920" cy="580644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1581912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Vision Analyze result</a:t>
            </a:r>
          </a:p>
        </p:txBody>
      </p:sp>
      <p:pic>
        <p:nvPicPr>
          <p:cNvPr id="31" name="Picture 30" descr="vision-analyze-fallb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159087"/>
            <a:ext cx="8046720" cy="4414344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9555480" y="1417320"/>
            <a:ext cx="4343400" cy="580644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1581912"/>
            <a:ext cx="3886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Why fallback matters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2148840"/>
            <a:ext cx="3703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No GEMINI_API_KEY required for offline demo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Avoids old Ollama 404 issue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VISION_PROVIDER=fallback is documented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1600">
                <a:solidFill>
                  <a:srgbClr val="F5F8FF"/>
                </a:solidFill>
              </a:defRPr>
            </a:pPr>
            <a:r>
              <a:t>Still shows the complete Vision Analyze 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Quality + Release Readiness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Final package is backed by CI, tests, screenshots, and documentation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1737360"/>
            <a:ext cx="2880360" cy="1737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196596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D6FF"/>
                </a:solidFill>
              </a:defRPr>
            </a:pPr>
            <a:r>
              <a:t>970+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67919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AAC8"/>
                </a:solidFill>
              </a:defRPr>
            </a:pPr>
            <a:r>
              <a:t>Pytest passing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43400" y="1737360"/>
            <a:ext cx="2880360" cy="1737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196596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DCA0"/>
                </a:solidFill>
              </a:defRPr>
            </a:pPr>
            <a:r>
              <a:t>PASS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267919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AAC8"/>
                </a:solidFill>
              </a:defRPr>
            </a:pPr>
            <a:r>
              <a:t>Ruff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0" y="1737360"/>
            <a:ext cx="2880360" cy="1737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0" y="196596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DCA0"/>
                </a:solidFill>
              </a:defRPr>
            </a:pPr>
            <a:r>
              <a:t>PASS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267919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AAC8"/>
                </a:solidFill>
              </a:defRPr>
            </a:pPr>
            <a:r>
              <a:t>Mypy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201400" y="1737360"/>
            <a:ext cx="2880360" cy="1737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01400" y="1965960"/>
            <a:ext cx="2880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0DCA0"/>
                </a:solidFill>
              </a:defRPr>
            </a:pPr>
            <a:r>
              <a:t>GREEN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2679192"/>
            <a:ext cx="2880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6AAC8"/>
                </a:solidFill>
              </a:defRPr>
            </a:pPr>
            <a:r>
              <a:t>GitHub Actions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4251960"/>
            <a:ext cx="12801600" cy="2103120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416552"/>
            <a:ext cx="1234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Release readiness review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4892040"/>
            <a:ext cx="12161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lnSpc>
                <a:spcPct val="115000"/>
              </a:lnSpc>
              <a:spcAft>
                <a:spcPts val="700"/>
              </a:spcAft>
              <a:defRPr sz="2000">
                <a:solidFill>
                  <a:srgbClr val="F5F8FF"/>
                </a:solidFill>
              </a:defRPr>
            </a:pPr>
            <a:r>
              <a:t>Final recommendation: READY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2000">
                <a:solidFill>
                  <a:srgbClr val="F5F8FF"/>
                </a:solidFill>
              </a:defRPr>
            </a:pPr>
            <a:r>
              <a:t>No WARN items and no FAIL items</a:t>
            </a:r>
          </a:p>
          <a:p>
            <a:pPr marL="228600" indent="-228600">
              <a:lnSpc>
                <a:spcPct val="115000"/>
              </a:lnSpc>
              <a:spcAft>
                <a:spcPts val="700"/>
              </a:spcAft>
              <a:defRPr sz="2000">
                <a:solidFill>
                  <a:srgbClr val="F5F8FF"/>
                </a:solidFill>
              </a:defRPr>
            </a:pPr>
            <a:r>
              <a:t>Working tree clean and main synced with origin/main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Final Submission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Files included in the repository for mentor review and demo preparation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97280" y="1600200"/>
            <a:ext cx="12435840" cy="658368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17320" y="173736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README.md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1746504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Architecture, setup, features, screenshots, test evidence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97280" y="2560320"/>
            <a:ext cx="12435840" cy="658368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17320" y="2697479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FINAL_SUBMISSION_REPORT.md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2706624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Completed scope and release readiness result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97280" y="3520440"/>
            <a:ext cx="12435840" cy="658368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36576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DEMO_SCRIPT.md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3666744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3-minute read-aloud demo video script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480560"/>
            <a:ext cx="12435840" cy="658368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17320" y="461772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MENTOR_DEMO_CHECKLIST.md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626864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Before/live/evidence/backup/final checklists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5440680"/>
            <a:ext cx="12435840" cy="658368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417320" y="557784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6FF"/>
                </a:solidFill>
              </a:defRPr>
            </a:pPr>
            <a:r>
              <a:t>MENTOR_EMAIL.md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586984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Concise submission email draft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5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8016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0" y="0"/>
            <a:ext cx="9144" cy="8229600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7315200"/>
            <a:ext cx="14630400" cy="9144"/>
          </a:xfrm>
          <a:prstGeom prst="rect">
            <a:avLst/>
          </a:prstGeom>
          <a:solidFill>
            <a:srgbClr val="08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20040"/>
            <a:ext cx="13350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5F8FF"/>
                </a:solidFill>
              </a:defRPr>
            </a:pPr>
            <a:r>
              <a:t>3-Minute Demo Flow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868680"/>
            <a:ext cx="1280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6AAC8"/>
                </a:solidFill>
              </a:defRPr>
            </a:pPr>
            <a:r>
              <a:t>Recommended order for the recorded presentation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1243584"/>
            <a:ext cx="13350240" cy="27432"/>
          </a:xfrm>
          <a:prstGeom prst="rect">
            <a:avLst/>
          </a:prstGeom>
          <a:solidFill>
            <a:srgbClr val="00D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68680" y="1417320"/>
            <a:ext cx="12893040" cy="594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1545336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0:00–0:20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15361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Intro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53619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Mythos Aegis purpose and scope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" y="2286000"/>
            <a:ext cx="12893040" cy="594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2414016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0:20–0:50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240487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Architecture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2040" y="240487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FastAPI, Next.js, Supabase pgvector, providers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" y="3154680"/>
            <a:ext cx="12893040" cy="594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3282696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0:50–1:25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7355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Security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92040" y="327355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JWT, RBAC, SQL Airlock, live feed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" y="4023359"/>
            <a:ext cx="12893040" cy="594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5137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1:25–2:10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142231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RAG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92040" y="4142231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Upload/retrieve/ask with citations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" y="4892040"/>
            <a:ext cx="12893040" cy="594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5020055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2:10–2:35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0" y="501091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Vision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92040" y="501091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Fallback analyze result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" y="5760720"/>
            <a:ext cx="12893040" cy="594360"/>
          </a:xfrm>
          <a:prstGeom prst="roundRect">
            <a:avLst/>
          </a:prstGeom>
          <a:solidFill>
            <a:srgbClr val="0D1E2D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888736"/>
            <a:ext cx="1417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B000"/>
                </a:solidFill>
              </a:defRPr>
            </a:pPr>
            <a:r>
              <a:t>2:35–3:00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5879592"/>
            <a:ext cx="19202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6FF"/>
                </a:solidFill>
              </a:defRPr>
            </a:pPr>
            <a:r>
              <a:t>Close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892040" y="5879592"/>
            <a:ext cx="8138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5F8FF"/>
                </a:solidFill>
              </a:defRPr>
            </a:pPr>
            <a:r>
              <a:t>CI/test evidence and mentor-review readiness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4400" y="6995160"/>
            <a:ext cx="12801600" cy="566928"/>
          </a:xfrm>
          <a:prstGeom prst="roundRect">
            <a:avLst/>
          </a:prstGeom>
          <a:solidFill>
            <a:srgbClr val="0A1420"/>
          </a:solidFill>
          <a:ln w="12700">
            <a:solidFill>
              <a:srgbClr val="194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143000" y="7141464"/>
            <a:ext cx="1225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CA0"/>
                </a:solidFill>
              </a:defRPr>
            </a:pPr>
            <a:r>
              <a:t>Close line: “The project is release-ready and mentor-review ready.”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7818120"/>
            <a:ext cx="9144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6AAC8"/>
                </a:solidFill>
              </a:defRPr>
            </a:pPr>
            <a:r>
              <a:t>Mythos Aegis • Final Demo Package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487400" y="78181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96AAC8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